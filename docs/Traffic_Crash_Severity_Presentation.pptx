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ROC-AUC Score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0.831</c:v>
                </c:pt>
                <c:pt idx="1">
                  <c:v>0.815</c:v>
                </c:pt>
                <c:pt idx="2">
                  <c:v>0.838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6"/>
          <c:min val="0.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Metrics vs. Decision Threshold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(Severe)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0.50</c:v>
                  </c:pt>
                  <c:pt idx="1">
                    <c:v>0.45</c:v>
                  </c:pt>
                  <c:pt idx="2">
                    <c:v>0.40</c:v>
                  </c:pt>
                  <c:pt idx="3">
                    <c:v>0.35</c:v>
                  </c:pt>
                  <c:pt idx="4">
                    <c:v>0.30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0.408</c:v>
                </c:pt>
                <c:pt idx="1">
                  <c:v>0.467</c:v>
                </c:pt>
                <c:pt idx="2">
                  <c:v>0.508</c:v>
                </c:pt>
                <c:pt idx="3">
                  <c:v>0.549</c:v>
                </c:pt>
                <c:pt idx="4">
                  <c:v>0.618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 (Severe)</c:v>
                </c:pt>
              </c:strCache>
            </c:strRef>
          </c:tx>
          <c:spPr>
            <a:solidFill>
              <a:srgbClr val="EF4444"/>
            </a:solidFill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0.50</c:v>
                  </c:pt>
                  <c:pt idx="1">
                    <c:v>0.45</c:v>
                  </c:pt>
                  <c:pt idx="2">
                    <c:v>0.40</c:v>
                  </c:pt>
                  <c:pt idx="3">
                    <c:v>0.35</c:v>
                  </c:pt>
                  <c:pt idx="4">
                    <c:v>0.30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0.657</c:v>
                </c:pt>
                <c:pt idx="1">
                  <c:v>0.637</c:v>
                </c:pt>
                <c:pt idx="2">
                  <c:v>0.622</c:v>
                </c:pt>
                <c:pt idx="3">
                  <c:v>0.603</c:v>
                </c:pt>
                <c:pt idx="4">
                  <c:v>0.568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(Severe)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0.50</c:v>
                  </c:pt>
                  <c:pt idx="1">
                    <c:v>0.45</c:v>
                  </c:pt>
                  <c:pt idx="2">
                    <c:v>0.40</c:v>
                  </c:pt>
                  <c:pt idx="3">
                    <c:v>0.35</c:v>
                  </c:pt>
                  <c:pt idx="4">
                    <c:v>0.30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0.503</c:v>
                </c:pt>
                <c:pt idx="1">
                  <c:v>0.537</c:v>
                </c:pt>
                <c:pt idx="2">
                  <c:v>0.557</c:v>
                </c:pt>
                <c:pt idx="3">
                  <c:v>0.575</c:v>
                </c:pt>
                <c:pt idx="4">
                  <c:v>0.591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474720" cy="3474720"/>
          </a:xfrm>
          <a:prstGeom prst="ellipse">
            <a:avLst/>
          </a:prstGeom>
          <a:solidFill>
            <a:srgbClr val="0D8A8A">
              <a:alpha val="20000"/>
            </a:srgbClr>
          </a:solidFill>
          <a:ln w="12700">
            <a:solidFill>
              <a:srgbClr val="0D8A8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926080"/>
            <a:ext cx="2194560" cy="2194560"/>
          </a:xfrm>
          <a:prstGeom prst="ellipse">
            <a:avLst/>
          </a:prstGeom>
          <a:solidFill>
            <a:srgbClr val="00C9B1">
              <a:alpha val="15000"/>
            </a:srgbClr>
          </a:solidFill>
          <a:ln w="12700">
            <a:solidFill>
              <a:srgbClr val="00C9B1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Crash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Prediction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on the Chicago Traffic Crashes Dataset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ISWT 606 Project  ·  City of Chicago Open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7315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traffic crash results in a severe outcome — defined as a fatal or incapacitating injury.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651760" cy="7315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43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3756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21945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Traffic Crashes dataset from the City of Chicago Open Data Portal, with over 1 million crash records.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05840"/>
            <a:ext cx="2651760" cy="7315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143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7220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72200" y="21945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using Logistic Regression, Random Forest, and XGBoost with threshold tuning.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Target Variable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73152" cy="35661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City of Chicago Open Data Portal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1,000,000+ crash entries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used: 16 columns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Temporal: weather, lighting, road,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locally for efficient processing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05840"/>
            <a:ext cx="73152" cy="356616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target_severe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46320" y="1600200"/>
            <a:ext cx="356616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664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 (1)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injuries &gt; 0  OR  Incapacitating injuries &gt;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743200"/>
            <a:ext cx="356616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807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Severe  (0)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108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crash outcomes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886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Highly imbalanced — severe crashes are a small minority of total records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(16 Features)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38404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Conditions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48132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POSTED_SPEED_LIMIT  ·  LANE_CNT  ·  ALIGNMENT  ·  ROADWAY_SURFACE_COND  ·  ROAD_DEFECT  ·  TRAFFICWAY_TYPE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05840"/>
            <a:ext cx="40233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51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73168" y="148132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WEATHER_CONDITION  ·  LIGHTING_CONDITION  ·  TRAFFIC_CONTROL_DEVICE  ·  DEVICE_CONDITION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971800"/>
            <a:ext cx="402336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Details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" y="344728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FIRST_CRASH_TYPE  ·  PRIM_CONTRIBUTORY_CAUSE  ·  SEC_CONTRIBUTORY_CAUSE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971800"/>
            <a:ext cx="402336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73168" y="344728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CRASH_HOUR  ·  CRASH_DAY_OF_WEEK  ·  CRASH_MONTH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Handling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LANE_CNT → median imputation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 → filled with 'UNKNOWN'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280160"/>
            <a:ext cx="457200" cy="45720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categorical features encoded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handle_unknown='ignore' for safe inference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246120"/>
            <a:ext cx="457200" cy="45720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246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Undersampling: non-severe sampled at 4× severe count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balanced subset used for training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246120"/>
            <a:ext cx="457200" cy="45720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3246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794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train, 20% 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preserves class ratio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60120"/>
            <a:ext cx="2697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33272"/>
            <a:ext cx="2697480" cy="640080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linear model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via StandardScaler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max_iter=2000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96012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96012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033272"/>
            <a:ext cx="2697480" cy="64008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789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178308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200 decision trees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scaling needed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max_depth=None (full trees)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96012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960120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033272"/>
            <a:ext cx="2697480" cy="64008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789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26480" y="178308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estimators, depth=7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learning_rate=0.05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subsample=0.9, colsample=0.9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binary:logistic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Results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754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005840"/>
          <a:ext cx="3566160" cy="2286000"/>
        </p:xfrm>
        <a:graphic>
          <a:graphicData uri="http://schemas.openxmlformats.org/drawingml/2006/table">
            <a:tbl>
              <a:tblPr/>
              <a:tblGrid>
                <a:gridCol w="1280160"/>
                <a:gridCol w="640080"/>
                <a:gridCol w="685800"/>
                <a:gridCol w="502920"/>
                <a:gridCol w="45720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303520" y="3520440"/>
            <a:ext cx="3566160" cy="82296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40680" y="3566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selected: best ROC-AUC (0.838) and strongest balance of precision &amp; recall for severe crash detection.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(XGBoost)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577840" y="1005840"/>
            <a:ext cx="32918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715000" y="1143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Tune the Threshold?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715000" y="16002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0.5 threshold optimizes overall accuracy. For crash severity prediction, missing a severe crash is far more costly than a false alarm. Lowering the threshold trades some precision for higher recall.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15000" y="3063240"/>
            <a:ext cx="297180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3127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Selected Threshold: 0.35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06440" y="34930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55%   Precision: 60%   F1: 0.575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011680" cy="13716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960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6276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914400"/>
            <a:ext cx="2011680" cy="13716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68880" y="960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468880" y="16276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Crash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914400"/>
            <a:ext cx="2011680" cy="13716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960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17720" y="16276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Crash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914400"/>
            <a:ext cx="2011680" cy="13716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960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766560" y="16276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51460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78408" y="2606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8408" y="295351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the highest ROC-AUC (0.838) and best balance of precision and recall among all three models.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51460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6460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13248" y="2606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Matters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13248" y="295351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prediction threshold to 0.35 significantly improved recall for severe crashes without sacrificing too much precision.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7490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29768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78408" y="3840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8408" y="41879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contributory cause, crash type, speed limit, and lighting condition were the most influential features.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7490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64608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13248" y="3840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Challenge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13248" y="41879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crashes are rare — careful undersampling and class-weighting were critical to prevent biased models.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Prediction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selects conditions via interactive widgets (ipywidgets)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Input validated and missing values imputed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Categorical features encoded using the saved OneHotEncoder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XGBoost predicts probability of severe crash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Threshold 0.35 applied → Severe / Not Severe label returned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Model Artifacts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00600" y="1691640"/>
            <a:ext cx="37490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691640"/>
            <a:ext cx="54864" cy="62179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728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xgb_crash_severity_model.pkl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XGBoost classifier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441448"/>
            <a:ext cx="37490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2441448"/>
            <a:ext cx="54864" cy="62179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4780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training_columns.pkl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7614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 names for alignment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3191256"/>
            <a:ext cx="37490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3191256"/>
            <a:ext cx="54864" cy="62179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227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best_threshold.pkl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5112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threshold (0.35)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941064"/>
            <a:ext cx="37490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3941064"/>
            <a:ext cx="54864" cy="62179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metadata.pkl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42611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LANE_CNT median for imputation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2743200" cy="2743200"/>
          </a:xfrm>
          <a:prstGeom prst="ellipse">
            <a:avLst/>
          </a:prstGeom>
          <a:solidFill>
            <a:srgbClr val="0D8A8A">
              <a:alpha val="18000"/>
            </a:srgbClr>
          </a:solidFill>
          <a:ln w="12700">
            <a:solidFill>
              <a:srgbClr val="0D8A8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pPr indent="0" marL="0">
              <a:buNone/>
            </a:pPr>
            <a:r>
              <a:rPr lang="en-US" sz="1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selected as the final model, delivering a ROC-AUC of </a:t>
            </a:r>
            <a:pPr indent="0" marL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0.838</a:t>
            </a:r>
            <a:pPr indent="0" marL="0">
              <a:buNone/>
            </a:pPr>
            <a:r>
              <a:rPr lang="en-US" sz="1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an F1 of </a:t>
            </a:r>
            <a:pPr indent="0" marL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0.575</a:t>
            </a:r>
            <a:pPr indent="0" marL="0">
              <a:buNone/>
            </a:pPr>
            <a:r>
              <a:rPr lang="en-US" sz="1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severe crash detection at threshold 0.35.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deployment pipeline was built with interactive widgets and saved artifacts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was addressed through undersampling and balanced class weights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shifted focus toward maximizing severe crash recall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extensible — SMOTE, cross-validation, and more features can be added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Crash Severity Prediction</dc:title>
  <dc:subject>PptxGenJS Presentation</dc:subject>
  <dc:creator>606 Project</dc:creator>
  <cp:lastModifiedBy>606 Project</cp:lastModifiedBy>
  <cp:revision>1</cp:revision>
  <dcterms:created xsi:type="dcterms:W3CDTF">2026-04-22T23:20:00Z</dcterms:created>
  <dcterms:modified xsi:type="dcterms:W3CDTF">2026-04-22T23:20:00Z</dcterms:modified>
</cp:coreProperties>
</file>